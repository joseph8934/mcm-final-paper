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29F41C-C1A1-0910-15BC-C792F863D830}" v="3" dt="2026-05-05T15:33:50.660"/>
    <p1510:client id="{511E4258-505C-464C-9379-206BF9F07B01}" v="324" dt="2026-05-05T23:44:01.783"/>
    <p1510:client id="{55633B33-45F5-8550-30B9-9BAF589E3EDA}" v="56" dt="2026-05-05T20:55:11.960"/>
    <p1510:client id="{F1D2DE2C-2715-8AA9-4C9C-AD2661AD396F}" v="46" dt="2026-05-05T15:38:08.0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714"/>
  </p:normalViewPr>
  <p:slideViewPr>
    <p:cSldViewPr snapToGrid="0">
      <p:cViewPr varScale="1">
        <p:scale>
          <a:sx n="115" d="100"/>
          <a:sy n="115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30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797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906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098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451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722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866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559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357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4733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246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03150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215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427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881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676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255F9-D90B-4E36-275B-BFA797D13E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Mortgage-Backed </a:t>
            </a:r>
            <a:r>
              <a:rPr lang="en-US"/>
              <a:t>Securities (MBS)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CBF8FA-B1DF-C8DD-DB92-9949B7A6CC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Alessandro Sanchez, Caroline </a:t>
            </a:r>
            <a:r>
              <a:rPr lang="en-US" dirty="0" err="1"/>
              <a:t>Cherekos</a:t>
            </a:r>
            <a:r>
              <a:rPr lang="en-US" dirty="0"/>
              <a:t>, Joseph Colecchia and Alejandro Lazo-Pacheco</a:t>
            </a:r>
          </a:p>
        </p:txBody>
      </p:sp>
    </p:spTree>
    <p:extLst>
      <p:ext uri="{BB962C8B-B14F-4D97-AF65-F5344CB8AC3E}">
        <p14:creationId xmlns:p14="http://schemas.microsoft.com/office/powerpoint/2010/main" val="72236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26162-9EFD-8098-7DED-6D154173C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MBS?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4D68F-52BF-FA92-C1D8-8FF470B21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en-US" dirty="0"/>
              <a:t>Securities backed by pools of </a:t>
            </a:r>
            <a:r>
              <a:rPr lang="en-US"/>
              <a:t>residential mortgage loans</a:t>
            </a:r>
          </a:p>
          <a:p>
            <a:pPr>
              <a:buFont typeface="Arial" charset="2"/>
              <a:buChar char="•"/>
            </a:pPr>
            <a:r>
              <a:rPr lang="en-US"/>
              <a:t>Process:</a:t>
            </a:r>
          </a:p>
          <a:p>
            <a:pPr lvl="1">
              <a:buFont typeface="Courier New" charset="2"/>
              <a:buChar char="o"/>
            </a:pPr>
            <a:r>
              <a:rPr lang="en-US"/>
              <a:t>Lenders birth mortgages, </a:t>
            </a:r>
          </a:p>
          <a:p>
            <a:pPr lvl="1">
              <a:buFont typeface="Courier New" charset="2"/>
              <a:buChar char="o"/>
            </a:pPr>
            <a:r>
              <a:rPr lang="en-US"/>
              <a:t>Sell them to aggregator or GSE</a:t>
            </a:r>
          </a:p>
          <a:p>
            <a:pPr lvl="1">
              <a:buFont typeface="Courier New" charset="2"/>
              <a:buChar char="o"/>
            </a:pPr>
            <a:r>
              <a:rPr lang="en-US"/>
              <a:t>Loans are pooled into a trust</a:t>
            </a:r>
          </a:p>
          <a:p>
            <a:pPr marL="457200" lvl="1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242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D082C-8BC7-A71B-E835-B505719AD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71FF8-B490-1657-F168-E5F5AF5E1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>
                <a:ea typeface="+mn-lt"/>
                <a:cs typeface="+mn-lt"/>
              </a:rPr>
              <a:t>Mortgage-backed securities (MBS) play a key role in modern money and capital markets by transforming individual mortgages into tradable investments.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They increase liquidity, expand lending, and connect the housing market to investors.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Their structure can also create risk, as seen during the 2008 financial crisis.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Research Question: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     How do MBS structures contribute to both market efficiency and financial risk?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Why This Matters:</a:t>
            </a:r>
            <a:endParaRPr lang="en-US" b="1"/>
          </a:p>
          <a:p>
            <a:r>
              <a:rPr lang="en-US">
                <a:ea typeface="+mn-lt"/>
                <a:cs typeface="+mn-lt"/>
              </a:rPr>
              <a:t>MBS continue to impact interest rates, housing affordability, and investment decisions.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Affects banks, investors, policymakers, and homeowners.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Overview of Paper:</a:t>
            </a:r>
            <a:endParaRPr lang="en-US" b="1"/>
          </a:p>
          <a:p>
            <a:r>
              <a:rPr lang="en-US">
                <a:ea typeface="+mn-lt"/>
                <a:cs typeface="+mn-lt"/>
              </a:rPr>
              <a:t>Background and structure of MBS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Analysis of MBS during financial crisis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Discussion of impacts and reforms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166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39C30-BFC8-9974-2489-5CB59FFC3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and Theory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E08AA-8876-EA2F-2580-FB7943882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MBS market established in the 1970s</a:t>
            </a:r>
          </a:p>
          <a:p>
            <a:r>
              <a:rPr lang="en-US" dirty="0"/>
              <a:t>Mortgages previously were held on bank’s balance sheets</a:t>
            </a:r>
          </a:p>
          <a:p>
            <a:r>
              <a:rPr lang="en-US" dirty="0"/>
              <a:t>MBSs pool similar mortgages and selling the cash flows </a:t>
            </a:r>
          </a:p>
          <a:p>
            <a:r>
              <a:rPr lang="en-US" dirty="0"/>
              <a:t>MBS main purpose is for liquidity creation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509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F7FF1-FE1F-6C21-86A2-A81CAF2CF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A8B0E-BB43-DFE6-11A3-B712C55C4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MBSs can be pre-paid at par when interest rates drop</a:t>
            </a:r>
          </a:p>
          <a:p>
            <a:r>
              <a:rPr lang="en-US" dirty="0"/>
              <a:t>CPR plummeted in 2008 due to house prices and poor economic conditions</a:t>
            </a:r>
          </a:p>
          <a:p>
            <a:r>
              <a:rPr lang="en-US" dirty="0"/>
              <a:t>Option Adjusted Spread values assess MBS valuation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860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20166-CAC2-04A8-E4DB-4DF9DF09E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66B68-1E07-6FE4-05BE-3133A6130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Drops in the MBS market caused systematic collapse of other markets</a:t>
            </a:r>
          </a:p>
          <a:p>
            <a:r>
              <a:rPr lang="en-US" dirty="0"/>
              <a:t>Caused people to lose both their jobs and homes</a:t>
            </a:r>
          </a:p>
          <a:p>
            <a:r>
              <a:rPr lang="en-US" dirty="0"/>
              <a:t>After crisis MBSs would have a hard recovery</a:t>
            </a:r>
          </a:p>
          <a:p>
            <a:r>
              <a:rPr lang="en-US" dirty="0"/>
              <a:t>Due to investor hesitance toward MBSs</a:t>
            </a:r>
          </a:p>
          <a:p>
            <a:r>
              <a:rPr lang="en-US" dirty="0"/>
              <a:t>Other securities could see faster recover as hesitance for MBSs stays</a:t>
            </a:r>
          </a:p>
        </p:txBody>
      </p:sp>
    </p:spTree>
    <p:extLst>
      <p:ext uri="{BB962C8B-B14F-4D97-AF65-F5344CB8AC3E}">
        <p14:creationId xmlns:p14="http://schemas.microsoft.com/office/powerpoint/2010/main" val="311109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B0DFB-6C68-765A-CA54-748ACB2B2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0D139-B543-6E43-62A1-6A6FF8D75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2008 crash collapsed the nonagency market</a:t>
            </a:r>
          </a:p>
          <a:p>
            <a:r>
              <a:rPr lang="en-US">
                <a:ea typeface="+mn-lt"/>
                <a:cs typeface="+mn-lt"/>
              </a:rPr>
              <a:t>Post-2008 Government-backed Agency MBS now represent nearly all of the 65% of securitized mortgage debt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An $11 trillion market uses TBA contracts to consolidate over a million individual pools into a highly liquid, globally traded asset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Investors manage unique negative convexity and borrower refinancing options through complex Option-Adjusted Spread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(OAS) metrics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Securitization enables the 30-year fixed-rate mortgage and serves as a primary channel for Federal Reserve monetary policy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88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28F1E-B5EB-0C72-F221-1007A24A8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893478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B276E-1D8A-AE70-FD22-66A856DB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E6119-4940-20BB-8816-0DC806BAA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Fabozzi, F. J. (Ed.). (2016). </a:t>
            </a:r>
            <a:r>
              <a:rPr lang="en-US" i="1" dirty="0"/>
              <a:t>The handbook of mortgage-backed securities</a:t>
            </a:r>
            <a:r>
              <a:rPr lang="en-US" dirty="0"/>
              <a:t>. Oxford University Press.</a:t>
            </a:r>
          </a:p>
          <a:p>
            <a:r>
              <a:rPr lang="en-US">
                <a:solidFill>
                  <a:srgbClr val="303030"/>
                </a:solidFill>
                <a:ea typeface="+mn-lt"/>
                <a:cs typeface="+mn-lt"/>
              </a:rPr>
              <a:t>Fuster, Andreas, David Lucca, and James Vickery. "Mortgage-Backed Securities." Federal Reserve Bank of New York Staff Reports, no. 1001 (February 2022).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14858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9924</TotalTime>
  <Words>413</Words>
  <Application>Microsoft Macintosh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Courier New</vt:lpstr>
      <vt:lpstr>Wingdings 3</vt:lpstr>
      <vt:lpstr>Wisp</vt:lpstr>
      <vt:lpstr>Mortgage-Backed Securities (MBS)</vt:lpstr>
      <vt:lpstr>What are MBS?</vt:lpstr>
      <vt:lpstr>Introduction</vt:lpstr>
      <vt:lpstr>Background and Theory </vt:lpstr>
      <vt:lpstr>Analysis</vt:lpstr>
      <vt:lpstr>Discussion</vt:lpstr>
      <vt:lpstr>Conclusion</vt:lpstr>
      <vt:lpstr>Thank You!</vt:lpstr>
      <vt:lpstr>Citations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Colecchia, Joseph</dc:creator>
  <cp:lastModifiedBy>Colecchia, Joseph</cp:lastModifiedBy>
  <cp:revision>2</cp:revision>
  <dcterms:created xsi:type="dcterms:W3CDTF">2026-04-29T02:20:37Z</dcterms:created>
  <dcterms:modified xsi:type="dcterms:W3CDTF">2026-05-05T23:44:45Z</dcterms:modified>
</cp:coreProperties>
</file>